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4" r:id="rId5"/>
    <p:sldMasterId id="2147483696" r:id="rId6"/>
    <p:sldMasterId id="2147483708" r:id="rId7"/>
    <p:sldMasterId id="2147483720" r:id="rId8"/>
  </p:sldMasterIdLst>
  <p:notesMasterIdLst>
    <p:notesMasterId r:id="rId19"/>
  </p:notesMasterIdLst>
  <p:sldIdLst>
    <p:sldId id="313" r:id="rId9"/>
    <p:sldId id="604" r:id="rId10"/>
    <p:sldId id="611" r:id="rId11"/>
    <p:sldId id="605" r:id="rId12"/>
    <p:sldId id="606" r:id="rId13"/>
    <p:sldId id="607" r:id="rId14"/>
    <p:sldId id="608" r:id="rId15"/>
    <p:sldId id="609" r:id="rId16"/>
    <p:sldId id="610" r:id="rId17"/>
    <p:sldId id="603" r:id="rId18"/>
  </p:sldIdLst>
  <p:sldSz cx="9144000" cy="6858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1F0D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31"/>
    <p:restoredTop sz="77406" autoAdjust="0"/>
  </p:normalViewPr>
  <p:slideViewPr>
    <p:cSldViewPr snapToGrid="0">
      <p:cViewPr varScale="1">
        <p:scale>
          <a:sx n="73" d="100"/>
          <a:sy n="73" d="100"/>
        </p:scale>
        <p:origin x="1915"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3C889D-9EBD-4557-A854-C4A5BFA0BA58}" type="datetimeFigureOut">
              <a:rPr lang="en-US" smtClean="0"/>
              <a:t>6/1/2025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B59BE-046B-4B0B-8C7C-7FB65C8A2F1B}" type="slidenum">
              <a:rPr lang="en-US" smtClean="0"/>
              <a:t>‹#›</a:t>
            </a:fld>
            <a:endParaRPr lang="en-US"/>
          </a:p>
        </p:txBody>
      </p:sp>
    </p:spTree>
    <p:extLst>
      <p:ext uri="{BB962C8B-B14F-4D97-AF65-F5344CB8AC3E}">
        <p14:creationId xmlns:p14="http://schemas.microsoft.com/office/powerpoint/2010/main" val="3901211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latin typeface="-apple-system"/>
            </a:endParaRPr>
          </a:p>
          <a:p>
            <a:r>
              <a:rPr lang="en-US" dirty="0">
                <a:effectLst/>
                <a:latin typeface="-apple-system"/>
              </a:rPr>
              <a:t> </a:t>
            </a:r>
            <a:endParaRPr lang="en-US" dirty="0"/>
          </a:p>
        </p:txBody>
      </p:sp>
      <p:sp>
        <p:nvSpPr>
          <p:cNvPr id="4" name="Slide Number Placeholder 3"/>
          <p:cNvSpPr>
            <a:spLocks noGrp="1"/>
          </p:cNvSpPr>
          <p:nvPr>
            <p:ph type="sldNum" sz="quarter" idx="5"/>
          </p:nvPr>
        </p:nvSpPr>
        <p:spPr/>
        <p:txBody>
          <a:bodyPr/>
          <a:lstStyle/>
          <a:p>
            <a:fld id="{E9EB59BE-046B-4B0B-8C7C-7FB65C8A2F1B}" type="slidenum">
              <a:rPr lang="en-US" smtClean="0"/>
              <a:t>5</a:t>
            </a:fld>
            <a:endParaRPr lang="en-US"/>
          </a:p>
        </p:txBody>
      </p:sp>
    </p:spTree>
    <p:extLst>
      <p:ext uri="{BB962C8B-B14F-4D97-AF65-F5344CB8AC3E}">
        <p14:creationId xmlns:p14="http://schemas.microsoft.com/office/powerpoint/2010/main" val="88860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
              </a:rPr>
              <a:t> </a:t>
            </a:r>
            <a:endParaRPr lang="en-US" dirty="0"/>
          </a:p>
        </p:txBody>
      </p:sp>
      <p:sp>
        <p:nvSpPr>
          <p:cNvPr id="4" name="Slide Number Placeholder 3"/>
          <p:cNvSpPr>
            <a:spLocks noGrp="1"/>
          </p:cNvSpPr>
          <p:nvPr>
            <p:ph type="sldNum" sz="quarter" idx="5"/>
          </p:nvPr>
        </p:nvSpPr>
        <p:spPr/>
        <p:txBody>
          <a:bodyPr/>
          <a:lstStyle/>
          <a:p>
            <a:fld id="{E9EB59BE-046B-4B0B-8C7C-7FB65C8A2F1B}" type="slidenum">
              <a:rPr lang="en-US" smtClean="0"/>
              <a:t>6</a:t>
            </a:fld>
            <a:endParaRPr lang="en-US"/>
          </a:p>
        </p:txBody>
      </p:sp>
    </p:spTree>
    <p:extLst>
      <p:ext uri="{BB962C8B-B14F-4D97-AF65-F5344CB8AC3E}">
        <p14:creationId xmlns:p14="http://schemas.microsoft.com/office/powerpoint/2010/main" val="2702659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EB59BE-046B-4B0B-8C7C-7FB65C8A2F1B}" type="slidenum">
              <a:rPr lang="en-US" smtClean="0"/>
              <a:t>7</a:t>
            </a:fld>
            <a:endParaRPr lang="en-US"/>
          </a:p>
        </p:txBody>
      </p:sp>
    </p:spTree>
    <p:extLst>
      <p:ext uri="{BB962C8B-B14F-4D97-AF65-F5344CB8AC3E}">
        <p14:creationId xmlns:p14="http://schemas.microsoft.com/office/powerpoint/2010/main" val="2848112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ADBBE67A-F3BD-4AD1-A63E-CC7EABFF4FB2}"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855246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48095CB-4C96-4416-9669-BC71DC16DEB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656456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1A57E1F8-F03D-48E0-956F-76F548B0F808}"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207365300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875FD6C9-B7EF-4E66-96EC-F32F419A3D1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3465756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2A9CA471-3B56-4A40-8820-843C0A92D33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2930301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3C42D339-B6AC-484C-AD71-B1CC945FEB6B}"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762591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7A802B35-03DB-4959-92DD-8D5755C1D0D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8760434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33028826-690F-43A3-952F-37964C8BF0A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33050495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8F6514E6-4F03-4C90-A6CF-0F48872A4A05}"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57696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F39F92B2-AF4F-47D0-84DE-FDFADA682DD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15079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782296B-27A5-40E4-B6A0-E586032DB02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49475604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A4CEAFD3-258C-4B6D-8974-AA6BF4B2924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7465381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B1518F21-D86A-4CBB-B550-82F46B0D74B1}"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389896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43ED8115-A672-453D-8D1A-EC596797BF67}"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191153717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AD6292E9-B531-46C9-BE62-A96D3C71B35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79945924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214BC6C4-37CB-4D71-8ED6-C5F52AC4753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9100765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921055D6-E672-4A07-B5B0-9EFFD3DD238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25806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EA06D14A-EEA2-4246-90E2-EACE95BEECD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6640274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C1C6DBE9-4285-42A8-BD26-C0C586C33BB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90859337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486C8876-2C82-4EFD-B907-7A22EB2EDAB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019675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B9EC88A-D517-4BC5-ADDD-C81FB6D889F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372627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ED9CDFD6-BE08-4D6C-8D13-300047686E3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44079357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D4F4243A-0706-44D0-A704-FE5291E109A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22487932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FA9BCE7-A82A-4359-B6D1-C8AD50A33DC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512674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DE9E3DE1-4874-4F8F-8065-A889630E43F7}"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426762616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17ECBB67-4555-46BB-A9CD-00AF5311A67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21281685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E06C8239-8E04-4670-A548-52B2086F6861}"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01824065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539FB232-53F9-4AD3-BF92-96F6E632EB43}"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5808547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BCBEFCE7-14B4-42F9-8914-6E0F7ADE8F60}"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65194899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F4B2249-E401-4950-9686-962D74BF041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996481564"/>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5EA6F851-7ADC-4A86-B923-F3FDB7B4ED2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0703229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B54AE220-2C63-4ADE-BD8E-43EC9B692EF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54359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76B9440F-1A1C-424D-9483-8496A4312EDB}"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8816425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8227DE6-FDE2-4CC7-951F-CB9020289DC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522813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C5A4419-7C45-4180-A306-10D60F8FB34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168904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1863D17D-BDA5-435A-B809-E5F1D12AEB10}"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19566979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77357DDE-26ED-4553-8F17-B4099BDFCC2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28751987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5C231EC4-24C3-4D2B-94D8-BD81FB93A2E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22371180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39FD2824-C27B-4E4A-AA71-0991E7B229D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9885347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71062FB7-332E-4602-8F92-DE773883C7B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511452290"/>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7DD9FE35-989F-4DD4-B609-73E961EB82E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2968005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38F6F3A-213B-4C3E-A989-5E57EE00180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6208768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1B8C820-DDB0-4537-A261-5AA8D215F02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55436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D8682B9-976F-4B53-9F04-8D63F669690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94044213"/>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976C102D-E8B6-4ED7-A692-F99EDC1EA61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152683436"/>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79A4E743-B43D-4F9B-B06A-E845A63E1132}"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6036026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340B6D0A-E072-4A9A-83D4-FCFB4356C58E}"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28684588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322C1273-E9DF-4BBC-8D9E-DDB47B15850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933071985"/>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848520D2-E66F-4F88-9017-B2BF2F19BD6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2566450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54CE1DB2-9A72-4305-92B5-36428C53BD85}"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9561200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41B00E44-0812-4B7B-96A8-3A2ED5F9D02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722630258"/>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D9B2735-CDB1-4B4B-B41E-6B9C46DF95E3}"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78677311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2455C2A3-3AF2-48D5-B978-853ECC6CDC4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221023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5F08553A-3EDF-42E6-9D05-27EEC71CD69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3376969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928732D-AA7C-49CF-933B-31FBBE08509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22410596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2057210F-B422-43C5-AF42-AA15C518596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3951947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488FE6E3-93CC-41EA-89C2-9750962A83A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5108077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85D5FBD6-6D17-4430-9FCF-502C06D78CF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8739190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DCC66FFE-AB15-45CD-98EE-68FDA9B61E0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36192651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D22C516D-544B-43F7-A8F7-0E50D688A0D0}"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8978433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easyelectronicsproject.com/mini-projects/automatic-street-light-with-ldr-1/?utm_source=chatgpt.com" TargetMode="External"/><Relationship Id="rId2" Type="http://schemas.openxmlformats.org/officeDocument/2006/relationships/hyperlink" Target="https://www.electricaltechnology.org/2013/04/automatic-street-light-control.html?utm_source=chatgpt.com" TargetMode="External"/><Relationship Id="rId1" Type="http://schemas.openxmlformats.org/officeDocument/2006/relationships/slideLayout" Target="../slideLayouts/slideLayout7.xml"/><Relationship Id="rId5" Type="http://schemas.openxmlformats.org/officeDocument/2006/relationships/hyperlink" Target="https://tronicspro.com/automatic-street-light-controller/?utm_source=chatgpt.com" TargetMode="External"/><Relationship Id="rId4" Type="http://schemas.openxmlformats.org/officeDocument/2006/relationships/hyperlink" Target="https://www.electronicwings.com/users/HEMAPRIYAKB/projects/696/automatic-street-light-controller?utm_source=chatgpt.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151D6B-E042-7A47-8937-A0E2A3752973}"/>
              </a:ext>
            </a:extLst>
          </p:cNvPr>
          <p:cNvSpPr txBox="1">
            <a:spLocks/>
          </p:cNvSpPr>
          <p:nvPr/>
        </p:nvSpPr>
        <p:spPr>
          <a:xfrm>
            <a:off x="1138755" y="76931"/>
            <a:ext cx="7223534" cy="878351"/>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800" b="1" dirty="0">
                <a:solidFill>
                  <a:srgbClr val="FF0000"/>
                </a:solidFill>
                <a:latin typeface="Times New Roman" panose="02020603050405020304" pitchFamily="18" charset="0"/>
                <a:cs typeface="Times New Roman" panose="02020603050405020304" pitchFamily="18" charset="0"/>
              </a:rPr>
              <a:t>Course Name (Section: X ) </a:t>
            </a:r>
          </a:p>
          <a:p>
            <a:pPr algn="ctr"/>
            <a:r>
              <a:rPr lang="en-US" sz="2800" b="1" dirty="0">
                <a:solidFill>
                  <a:srgbClr val="0066FF"/>
                </a:solidFill>
                <a:latin typeface="Times New Roman" panose="02020603050405020304" pitchFamily="18" charset="0"/>
                <a:cs typeface="Times New Roman" panose="02020603050405020304" pitchFamily="18" charset="0"/>
              </a:rPr>
              <a:t>Project Presentation (Semester: Spring 24-25 )</a:t>
            </a:r>
          </a:p>
        </p:txBody>
      </p:sp>
      <p:sp>
        <p:nvSpPr>
          <p:cNvPr id="7" name="Title 1">
            <a:extLst>
              <a:ext uri="{FF2B5EF4-FFF2-40B4-BE49-F238E27FC236}">
                <a16:creationId xmlns:a16="http://schemas.microsoft.com/office/drawing/2014/main" id="{374370FD-C2B2-5547-A17C-2BB2B513DBCC}"/>
              </a:ext>
            </a:extLst>
          </p:cNvPr>
          <p:cNvSpPr txBox="1">
            <a:spLocks/>
          </p:cNvSpPr>
          <p:nvPr/>
        </p:nvSpPr>
        <p:spPr>
          <a:xfrm>
            <a:off x="1838844" y="955282"/>
            <a:ext cx="5165964" cy="878351"/>
          </a:xfrm>
          <a:prstGeom prst="rect">
            <a:avLst/>
          </a:prstGeom>
        </p:spPr>
        <p:txBody>
          <a:bodyPr vert="horz" lIns="68580" tIns="34290" rIns="68580" bIns="34290" rtlCol="0" anchor="b">
            <a:normAutofit fontScale="85000"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7030A0"/>
                </a:solidFill>
                <a:latin typeface="Times New Roman" panose="02020603050405020304" pitchFamily="18" charset="0"/>
                <a:cs typeface="Times New Roman" panose="02020603050405020304" pitchFamily="18" charset="0"/>
              </a:rPr>
              <a:t>Project Title: Automatic Street Light System</a:t>
            </a:r>
            <a:r>
              <a:rPr lang="en-US" sz="2400" dirty="0">
                <a:solidFill>
                  <a:srgbClr val="7030A0"/>
                </a:solidFill>
                <a:latin typeface="Times New Roman" panose="02020603050405020304" pitchFamily="18" charset="0"/>
                <a:cs typeface="Times New Roman" panose="02020603050405020304" pitchFamily="18" charset="0"/>
              </a:rPr>
              <a:t> </a:t>
            </a:r>
          </a:p>
          <a:p>
            <a:pPr algn="ctr"/>
            <a:r>
              <a:rPr lang="en-US" sz="2400" b="1" dirty="0">
                <a:solidFill>
                  <a:srgbClr val="7030A0"/>
                </a:solidFill>
                <a:latin typeface="Times New Roman" panose="02020603050405020304" pitchFamily="18" charset="0"/>
                <a:cs typeface="Times New Roman" panose="02020603050405020304" pitchFamily="18" charset="0"/>
              </a:rPr>
              <a:t>Group No: 05</a:t>
            </a:r>
          </a:p>
          <a:p>
            <a:pPr algn="ctr"/>
            <a:r>
              <a:rPr lang="en-US" sz="2400" b="1" dirty="0">
                <a:solidFill>
                  <a:srgbClr val="7030A0"/>
                </a:solidFill>
                <a:latin typeface="Times New Roman" panose="02020603050405020304" pitchFamily="18" charset="0"/>
                <a:cs typeface="Times New Roman" panose="02020603050405020304" pitchFamily="18" charset="0"/>
              </a:rPr>
              <a:t>Submission Date:1 June 2025</a:t>
            </a:r>
          </a:p>
        </p:txBody>
      </p:sp>
      <p:sp>
        <p:nvSpPr>
          <p:cNvPr id="2" name="Slide Number Placeholder 1">
            <a:extLst>
              <a:ext uri="{FF2B5EF4-FFF2-40B4-BE49-F238E27FC236}">
                <a16:creationId xmlns:a16="http://schemas.microsoft.com/office/drawing/2014/main" id="{040614BA-EACB-ED12-2475-3354141DB8D9}"/>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1</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CFED769D-1365-D823-DDBA-73CEF8E0F3C2}"/>
              </a:ext>
            </a:extLst>
          </p:cNvPr>
          <p:cNvSpPr txBox="1">
            <a:spLocks/>
          </p:cNvSpPr>
          <p:nvPr/>
        </p:nvSpPr>
        <p:spPr>
          <a:xfrm>
            <a:off x="559742" y="1986123"/>
            <a:ext cx="3044033" cy="417748"/>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00FF"/>
                </a:solidFill>
                <a:latin typeface="Times New Roman" panose="02020603050405020304" pitchFamily="18" charset="0"/>
                <a:cs typeface="Times New Roman" panose="02020603050405020304" pitchFamily="18" charset="0"/>
              </a:rPr>
              <a:t>Group Members:</a:t>
            </a:r>
          </a:p>
        </p:txBody>
      </p:sp>
      <p:sp>
        <p:nvSpPr>
          <p:cNvPr id="10" name="Title 1">
            <a:extLst>
              <a:ext uri="{FF2B5EF4-FFF2-40B4-BE49-F238E27FC236}">
                <a16:creationId xmlns:a16="http://schemas.microsoft.com/office/drawing/2014/main" id="{BF76EF64-177B-C6A0-B0EE-EFE278793E38}"/>
              </a:ext>
            </a:extLst>
          </p:cNvPr>
          <p:cNvSpPr txBox="1">
            <a:spLocks/>
          </p:cNvSpPr>
          <p:nvPr/>
        </p:nvSpPr>
        <p:spPr>
          <a:xfrm>
            <a:off x="814243" y="5303799"/>
            <a:ext cx="4796319" cy="417748"/>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B050"/>
                </a:solidFill>
                <a:latin typeface="Times New Roman" panose="02020603050405020304" pitchFamily="18" charset="0"/>
                <a:cs typeface="Times New Roman" panose="02020603050405020304" pitchFamily="18" charset="0"/>
              </a:rPr>
              <a:t>Lab Instructor: Dr Nadia Afroze</a:t>
            </a:r>
          </a:p>
        </p:txBody>
      </p:sp>
      <p:sp>
        <p:nvSpPr>
          <p:cNvPr id="11" name="Title 1">
            <a:extLst>
              <a:ext uri="{FF2B5EF4-FFF2-40B4-BE49-F238E27FC236}">
                <a16:creationId xmlns:a16="http://schemas.microsoft.com/office/drawing/2014/main" id="{CB0DCC30-ECA6-7D05-DB8A-21B469A34E29}"/>
              </a:ext>
            </a:extLst>
          </p:cNvPr>
          <p:cNvSpPr txBox="1">
            <a:spLocks/>
          </p:cNvSpPr>
          <p:nvPr/>
        </p:nvSpPr>
        <p:spPr>
          <a:xfrm>
            <a:off x="925398" y="5721547"/>
            <a:ext cx="5356755" cy="417748"/>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2060"/>
                </a:solidFill>
                <a:latin typeface="Times New Roman" panose="02020603050405020304" pitchFamily="18" charset="0"/>
                <a:cs typeface="Times New Roman" panose="02020603050405020304" pitchFamily="18" charset="0"/>
              </a:rPr>
              <a:t>Lab Demonstrator: MD. Shahin Islam</a:t>
            </a:r>
          </a:p>
        </p:txBody>
      </p:sp>
      <p:graphicFrame>
        <p:nvGraphicFramePr>
          <p:cNvPr id="12" name="Table 11">
            <a:extLst>
              <a:ext uri="{FF2B5EF4-FFF2-40B4-BE49-F238E27FC236}">
                <a16:creationId xmlns:a16="http://schemas.microsoft.com/office/drawing/2014/main" id="{E3F7F3EA-6300-57EE-4DD1-5B638AFCEEEC}"/>
              </a:ext>
            </a:extLst>
          </p:cNvPr>
          <p:cNvGraphicFramePr>
            <a:graphicFrameLocks noGrp="1"/>
          </p:cNvGraphicFramePr>
          <p:nvPr>
            <p:extLst>
              <p:ext uri="{D42A27DB-BD31-4B8C-83A1-F6EECF244321}">
                <p14:modId xmlns:p14="http://schemas.microsoft.com/office/powerpoint/2010/main" val="35971235"/>
              </p:ext>
            </p:extLst>
          </p:nvPr>
        </p:nvGraphicFramePr>
        <p:xfrm>
          <a:off x="814244" y="2466995"/>
          <a:ext cx="7872556" cy="2773680"/>
        </p:xfrm>
        <a:graphic>
          <a:graphicData uri="http://schemas.openxmlformats.org/drawingml/2006/table">
            <a:tbl>
              <a:tblPr firstRow="1" bandRow="1">
                <a:tableStyleId>{F5AB1C69-6EDB-4FF4-983F-18BD219EF322}</a:tableStyleId>
              </a:tblPr>
              <a:tblGrid>
                <a:gridCol w="1574511">
                  <a:extLst>
                    <a:ext uri="{9D8B030D-6E8A-4147-A177-3AD203B41FA5}">
                      <a16:colId xmlns:a16="http://schemas.microsoft.com/office/drawing/2014/main" val="4099171008"/>
                    </a:ext>
                  </a:extLst>
                </a:gridCol>
                <a:gridCol w="2069864">
                  <a:extLst>
                    <a:ext uri="{9D8B030D-6E8A-4147-A177-3AD203B41FA5}">
                      <a16:colId xmlns:a16="http://schemas.microsoft.com/office/drawing/2014/main" val="2829644484"/>
                    </a:ext>
                  </a:extLst>
                </a:gridCol>
                <a:gridCol w="4228181">
                  <a:extLst>
                    <a:ext uri="{9D8B030D-6E8A-4147-A177-3AD203B41FA5}">
                      <a16:colId xmlns:a16="http://schemas.microsoft.com/office/drawing/2014/main" val="1005713555"/>
                    </a:ext>
                  </a:extLst>
                </a:gridCol>
              </a:tblGrid>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Roll No.</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Student ID</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Student Name</a:t>
                      </a:r>
                    </a:p>
                  </a:txBody>
                  <a:tcPr/>
                </a:tc>
                <a:extLst>
                  <a:ext uri="{0D108BD9-81ED-4DB2-BD59-A6C34878D82A}">
                    <a16:rowId xmlns:a16="http://schemas.microsoft.com/office/drawing/2014/main" val="1286418022"/>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10</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23-52980-3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Rafid Hossain</a:t>
                      </a:r>
                    </a:p>
                  </a:txBody>
                  <a:tcPr/>
                </a:tc>
                <a:extLst>
                  <a:ext uri="{0D108BD9-81ED-4DB2-BD59-A6C34878D82A}">
                    <a16:rowId xmlns:a16="http://schemas.microsoft.com/office/drawing/2014/main" val="959089542"/>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11</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23-52991-3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Md. Abu Siam</a:t>
                      </a:r>
                    </a:p>
                  </a:txBody>
                  <a:tcPr/>
                </a:tc>
                <a:extLst>
                  <a:ext uri="{0D108BD9-81ED-4DB2-BD59-A6C34878D82A}">
                    <a16:rowId xmlns:a16="http://schemas.microsoft.com/office/drawing/2014/main" val="2951256260"/>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23-53029-3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Asma Akther </a:t>
                      </a:r>
                    </a:p>
                  </a:txBody>
                  <a:tcPr/>
                </a:tc>
                <a:extLst>
                  <a:ext uri="{0D108BD9-81ED-4DB2-BD59-A6C34878D82A}">
                    <a16:rowId xmlns:a16="http://schemas.microsoft.com/office/drawing/2014/main" val="342640582"/>
                  </a:ext>
                </a:extLst>
              </a:tr>
              <a:tr h="347979">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12</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23-52993-3</a:t>
                      </a:r>
                    </a:p>
                  </a:txBody>
                  <a:tcPr/>
                </a:tc>
                <a:tc>
                  <a:txBody>
                    <a:bodyPr/>
                    <a:lstStyle/>
                    <a:p>
                      <a:pPr algn="ctr"/>
                      <a:r>
                        <a:rPr lang="en-US" sz="2000" dirty="0" err="1">
                          <a:solidFill>
                            <a:schemeClr val="tx1"/>
                          </a:solidFill>
                          <a:latin typeface="Times New Roman" panose="02020603050405020304" pitchFamily="18" charset="0"/>
                          <a:cs typeface="Times New Roman" panose="02020603050405020304" pitchFamily="18" charset="0"/>
                        </a:rPr>
                        <a:t>Zihad</a:t>
                      </a:r>
                      <a:r>
                        <a:rPr lang="en-US" sz="2000" dirty="0">
                          <a:solidFill>
                            <a:schemeClr val="tx1"/>
                          </a:solidFill>
                          <a:latin typeface="Times New Roman" panose="02020603050405020304" pitchFamily="18" charset="0"/>
                          <a:cs typeface="Times New Roman" panose="02020603050405020304" pitchFamily="18" charset="0"/>
                        </a:rPr>
                        <a:t> Bin Rahim</a:t>
                      </a:r>
                    </a:p>
                  </a:txBody>
                  <a:tcPr/>
                </a:tc>
                <a:extLst>
                  <a:ext uri="{0D108BD9-81ED-4DB2-BD59-A6C34878D82A}">
                    <a16:rowId xmlns:a16="http://schemas.microsoft.com/office/drawing/2014/main" val="2446958795"/>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9</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23-52979-3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Linda Maria Gomes </a:t>
                      </a:r>
                    </a:p>
                  </a:txBody>
                  <a:tcPr/>
                </a:tc>
                <a:extLst>
                  <a:ext uri="{0D108BD9-81ED-4DB2-BD59-A6C34878D82A}">
                    <a16:rowId xmlns:a16="http://schemas.microsoft.com/office/drawing/2014/main" val="4249013198"/>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23-50839-1</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Md. </a:t>
                      </a:r>
                      <a:r>
                        <a:rPr lang="en-US" sz="2000" dirty="0" err="1">
                          <a:solidFill>
                            <a:schemeClr val="tx1"/>
                          </a:solidFill>
                          <a:latin typeface="Times New Roman" panose="02020603050405020304" pitchFamily="18" charset="0"/>
                          <a:cs typeface="Times New Roman" panose="02020603050405020304" pitchFamily="18" charset="0"/>
                        </a:rPr>
                        <a:t>Zihad</a:t>
                      </a:r>
                      <a:r>
                        <a:rPr lang="en-US" sz="2000" dirty="0">
                          <a:solidFill>
                            <a:schemeClr val="tx1"/>
                          </a:solidFill>
                          <a:latin typeface="Times New Roman" panose="02020603050405020304" pitchFamily="18" charset="0"/>
                          <a:cs typeface="Times New Roman" panose="02020603050405020304" pitchFamily="18" charset="0"/>
                        </a:rPr>
                        <a:t> Khan </a:t>
                      </a:r>
                    </a:p>
                  </a:txBody>
                  <a:tcPr/>
                </a:tc>
                <a:extLst>
                  <a:ext uri="{0D108BD9-81ED-4DB2-BD59-A6C34878D82A}">
                    <a16:rowId xmlns:a16="http://schemas.microsoft.com/office/drawing/2014/main" val="3392218354"/>
                  </a:ext>
                </a:extLst>
              </a:tr>
            </a:tbl>
          </a:graphicData>
        </a:graphic>
      </p:graphicFrame>
    </p:spTree>
    <p:extLst>
      <p:ext uri="{BB962C8B-B14F-4D97-AF65-F5344CB8AC3E}">
        <p14:creationId xmlns:p14="http://schemas.microsoft.com/office/powerpoint/2010/main" val="30663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2</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348287" y="133989"/>
            <a:ext cx="444742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Outlines of the project </a:t>
            </a:r>
          </a:p>
        </p:txBody>
      </p:sp>
      <p:sp>
        <p:nvSpPr>
          <p:cNvPr id="6" name="TextBox 5">
            <a:extLst>
              <a:ext uri="{FF2B5EF4-FFF2-40B4-BE49-F238E27FC236}">
                <a16:creationId xmlns:a16="http://schemas.microsoft.com/office/drawing/2014/main" id="{2A9740C2-A370-EBE0-1B40-6F407838C859}"/>
              </a:ext>
            </a:extLst>
          </p:cNvPr>
          <p:cNvSpPr txBox="1"/>
          <p:nvPr/>
        </p:nvSpPr>
        <p:spPr>
          <a:xfrm>
            <a:off x="92469" y="986744"/>
            <a:ext cx="4202130" cy="3970318"/>
          </a:xfrm>
          <a:prstGeom prst="rect">
            <a:avLst/>
          </a:prstGeom>
          <a:noFill/>
        </p:spPr>
        <p:txBody>
          <a:bodyPr wrap="square" rtlCol="0">
            <a:spAutoFit/>
          </a:bodyPr>
          <a:lstStyle/>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Aims &amp; Objectives</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Introduction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Methodology </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Results</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Discussion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Conclusion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088137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3</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549275" y="133989"/>
            <a:ext cx="4045449"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1. Aims &amp; Objectives</a:t>
            </a:r>
          </a:p>
        </p:txBody>
      </p:sp>
      <p:sp>
        <p:nvSpPr>
          <p:cNvPr id="4" name="TextBox 3">
            <a:extLst>
              <a:ext uri="{FF2B5EF4-FFF2-40B4-BE49-F238E27FC236}">
                <a16:creationId xmlns:a16="http://schemas.microsoft.com/office/drawing/2014/main" id="{9F1592A4-1C4C-A8BC-DE26-D88354531A0E}"/>
              </a:ext>
            </a:extLst>
          </p:cNvPr>
          <p:cNvSpPr txBox="1"/>
          <p:nvPr/>
        </p:nvSpPr>
        <p:spPr>
          <a:xfrm>
            <a:off x="276837" y="1536174"/>
            <a:ext cx="8409963" cy="3785652"/>
          </a:xfrm>
          <a:prstGeom prst="rect">
            <a:avLst/>
          </a:prstGeom>
          <a:noFill/>
        </p:spPr>
        <p:txBody>
          <a:bodyPr wrap="square" rtlCol="0">
            <a:spAutoFit/>
          </a:bodyPr>
          <a:lstStyle/>
          <a:p>
            <a:pPr marL="342900" indent="-342900" algn="just">
              <a:buAutoNum type="arabicPeriod"/>
            </a:pPr>
            <a:r>
              <a:rPr lang="en-US" sz="2000" dirty="0">
                <a:latin typeface="Times New Roman" panose="02020603050405020304" pitchFamily="18" charset="0"/>
                <a:cs typeface="Times New Roman" panose="02020603050405020304" pitchFamily="18" charset="0"/>
              </a:rPr>
              <a:t>To design a sensor-based circuit that can detect ambient light levels using an LDR (Light Dependent Resistor).</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automatically switch ON the streetlight when the surrounding light intensity falls below a certain threshold (e.g., during dusk or cloudy weather).</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 To switch OFF the streetlight automatically during daylight hours to conserve energy.</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reduce human effort and operational costs involved in manual switching of streetlights.</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demonstrate a prototype model of the system with proper component integration and functioning.</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ensure the system is energy-efficient, reliable, and suitable for real-world outdoor implementation.</a:t>
            </a:r>
          </a:p>
        </p:txBody>
      </p:sp>
    </p:spTree>
    <p:extLst>
      <p:ext uri="{BB962C8B-B14F-4D97-AF65-F5344CB8AC3E}">
        <p14:creationId xmlns:p14="http://schemas.microsoft.com/office/powerpoint/2010/main" val="1760283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4</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2. Introduction</a:t>
            </a:r>
          </a:p>
        </p:txBody>
      </p:sp>
      <p:sp>
        <p:nvSpPr>
          <p:cNvPr id="4" name="TextBox 3">
            <a:extLst>
              <a:ext uri="{FF2B5EF4-FFF2-40B4-BE49-F238E27FC236}">
                <a16:creationId xmlns:a16="http://schemas.microsoft.com/office/drawing/2014/main" id="{DFB6B1B6-8602-BEC8-86D9-100D1B95CD9E}"/>
              </a:ext>
            </a:extLst>
          </p:cNvPr>
          <p:cNvSpPr txBox="1"/>
          <p:nvPr/>
        </p:nvSpPr>
        <p:spPr>
          <a:xfrm>
            <a:off x="158516" y="1303898"/>
            <a:ext cx="5578679" cy="4031873"/>
          </a:xfrm>
          <a:prstGeom prst="rect">
            <a:avLst/>
          </a:prstGeom>
          <a:noFill/>
        </p:spPr>
        <p:txBody>
          <a:bodyPr wrap="square" rtlCol="0">
            <a:spAutoFit/>
          </a:bodyPr>
          <a:lstStyle/>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 today’s world, automation plays a key role in improving efficiency, saving energy, and reducing manual effort. Street lighting is one area where automation can prevent unnecessary power consumption caused by manual switching or fixed timers. This project aims to develop an </a:t>
            </a:r>
            <a:r>
              <a:rPr lang="en-US" sz="1600" b="1" dirty="0">
                <a:latin typeface="Times New Roman" panose="02020603050405020304" pitchFamily="18" charset="0"/>
                <a:cs typeface="Times New Roman" panose="02020603050405020304" pitchFamily="18" charset="0"/>
              </a:rPr>
              <a:t>Automatic Street Light System</a:t>
            </a:r>
            <a:r>
              <a:rPr lang="en-US" sz="1600" dirty="0">
                <a:latin typeface="Times New Roman" panose="02020603050405020304" pitchFamily="18" charset="0"/>
                <a:cs typeface="Times New Roman" panose="02020603050405020304" pitchFamily="18" charset="0"/>
              </a:rPr>
              <a:t> that operates based on ambient light conditions using a </a:t>
            </a:r>
            <a:r>
              <a:rPr lang="en-US" sz="1600" b="1" dirty="0">
                <a:latin typeface="Times New Roman" panose="02020603050405020304" pitchFamily="18" charset="0"/>
                <a:cs typeface="Times New Roman" panose="02020603050405020304" pitchFamily="18" charset="0"/>
              </a:rPr>
              <a:t>Light Dependent Resistor (LDR)</a:t>
            </a:r>
            <a:r>
              <a:rPr lang="en-US" sz="1600" dirty="0">
                <a:latin typeface="Times New Roman" panose="02020603050405020304" pitchFamily="18" charset="0"/>
                <a:cs typeface="Times New Roman" panose="02020603050405020304" pitchFamily="18" charset="0"/>
              </a:rPr>
              <a:t>.</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LDR senses the surrounding light level, and when it drops below a set threshold—like during dusk or nighttime—the system automatically turns </a:t>
            </a:r>
            <a:r>
              <a:rPr lang="en-US" sz="1600" b="1" dirty="0">
                <a:latin typeface="Times New Roman" panose="02020603050405020304" pitchFamily="18" charset="0"/>
                <a:cs typeface="Times New Roman" panose="02020603050405020304" pitchFamily="18" charset="0"/>
              </a:rPr>
              <a:t>ON</a:t>
            </a:r>
            <a:r>
              <a:rPr lang="en-US" sz="1600" dirty="0">
                <a:latin typeface="Times New Roman" panose="02020603050405020304" pitchFamily="18" charset="0"/>
                <a:cs typeface="Times New Roman" panose="02020603050405020304" pitchFamily="18" charset="0"/>
              </a:rPr>
              <a:t> the streetlight. When sufficient daylight is detected, the light switches </a:t>
            </a:r>
            <a:r>
              <a:rPr lang="en-US" sz="1600" b="1" dirty="0">
                <a:latin typeface="Times New Roman" panose="02020603050405020304" pitchFamily="18" charset="0"/>
                <a:cs typeface="Times New Roman" panose="02020603050405020304" pitchFamily="18" charset="0"/>
              </a:rPr>
              <a:t>OFF</a:t>
            </a:r>
            <a:r>
              <a:rPr lang="en-US" sz="1600" dirty="0">
                <a:latin typeface="Times New Roman" panose="02020603050405020304" pitchFamily="18" charset="0"/>
                <a:cs typeface="Times New Roman" panose="02020603050405020304" pitchFamily="18" charset="0"/>
              </a:rPr>
              <a:t>. This smart, energy-efficient system uses simple and cost-effective components, making it ideal for both urban and rural applications to promote </a:t>
            </a:r>
            <a:r>
              <a:rPr lang="en-US" sz="1600" b="1" dirty="0">
                <a:latin typeface="Times New Roman" panose="02020603050405020304" pitchFamily="18" charset="0"/>
                <a:cs typeface="Times New Roman" panose="02020603050405020304" pitchFamily="18" charset="0"/>
              </a:rPr>
              <a:t>sustainable energy use</a:t>
            </a:r>
            <a:r>
              <a:rPr lang="en-US" sz="1600" dirty="0">
                <a:latin typeface="Times New Roman" panose="02020603050405020304" pitchFamily="18" charset="0"/>
                <a:cs typeface="Times New Roman" panose="02020603050405020304" pitchFamily="18" charset="0"/>
              </a:rPr>
              <a:t>.</a:t>
            </a:r>
          </a:p>
        </p:txBody>
      </p:sp>
      <p:pic>
        <p:nvPicPr>
          <p:cNvPr id="6" name="Picture 5" descr="A diagram of a circuit&#10;&#10;AI-generated content may be incorrect.">
            <a:extLst>
              <a:ext uri="{FF2B5EF4-FFF2-40B4-BE49-F238E27FC236}">
                <a16:creationId xmlns:a16="http://schemas.microsoft.com/office/drawing/2014/main" id="{65BF1D87-EA4F-F130-92F3-5585835E2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9622" y="1748747"/>
            <a:ext cx="3749879" cy="2713886"/>
          </a:xfrm>
          <a:prstGeom prst="rect">
            <a:avLst/>
          </a:prstGeom>
        </p:spPr>
      </p:pic>
      <p:sp>
        <p:nvSpPr>
          <p:cNvPr id="7" name="TextBox 6">
            <a:extLst>
              <a:ext uri="{FF2B5EF4-FFF2-40B4-BE49-F238E27FC236}">
                <a16:creationId xmlns:a16="http://schemas.microsoft.com/office/drawing/2014/main" id="{6DBA3E5C-A225-E947-9E11-6BA9B54AA655}"/>
              </a:ext>
            </a:extLst>
          </p:cNvPr>
          <p:cNvSpPr txBox="1"/>
          <p:nvPr/>
        </p:nvSpPr>
        <p:spPr>
          <a:xfrm>
            <a:off x="6073629" y="4437536"/>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1: Circuit Diagram</a:t>
            </a:r>
          </a:p>
        </p:txBody>
      </p:sp>
    </p:spTree>
    <p:extLst>
      <p:ext uri="{BB962C8B-B14F-4D97-AF65-F5344CB8AC3E}">
        <p14:creationId xmlns:p14="http://schemas.microsoft.com/office/powerpoint/2010/main" val="3086836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5</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3. Methodology</a:t>
            </a:r>
          </a:p>
        </p:txBody>
      </p:sp>
      <p:sp>
        <p:nvSpPr>
          <p:cNvPr id="4" name="TextBox 3">
            <a:extLst>
              <a:ext uri="{FF2B5EF4-FFF2-40B4-BE49-F238E27FC236}">
                <a16:creationId xmlns:a16="http://schemas.microsoft.com/office/drawing/2014/main" id="{FC02F68F-A70D-F2BD-50FA-9A68DC895B7C}"/>
              </a:ext>
            </a:extLst>
          </p:cNvPr>
          <p:cNvSpPr txBox="1"/>
          <p:nvPr/>
        </p:nvSpPr>
        <p:spPr>
          <a:xfrm>
            <a:off x="205365" y="1043731"/>
            <a:ext cx="5142451" cy="4770537"/>
          </a:xfrm>
          <a:prstGeom prst="rect">
            <a:avLst/>
          </a:prstGeom>
          <a:noFill/>
        </p:spPr>
        <p:txBody>
          <a:bodyPr wrap="square" rtlCol="0">
            <a:spAutoFit/>
          </a:bodyPr>
          <a:lstStyle/>
          <a:p>
            <a:pPr algn="just">
              <a:buNone/>
            </a:pPr>
            <a:r>
              <a:rPr lang="en-US" sz="1600" b="1" u="sng" dirty="0">
                <a:solidFill>
                  <a:srgbClr val="00B0F0"/>
                </a:solidFill>
                <a:latin typeface="Times New Roman" panose="02020603050405020304" pitchFamily="18" charset="0"/>
                <a:cs typeface="Times New Roman" panose="02020603050405020304" pitchFamily="18" charset="0"/>
              </a:rPr>
              <a:t>Light Sensing: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LDR detects ambient light intensity and generates a voltage signal that decreases as the surrounding light fades.</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u="sng" dirty="0">
                <a:solidFill>
                  <a:srgbClr val="00B0F0"/>
                </a:solidFill>
                <a:latin typeface="Times New Roman" panose="02020603050405020304" pitchFamily="18" charset="0"/>
                <a:cs typeface="Times New Roman" panose="02020603050405020304" pitchFamily="18" charset="0"/>
              </a:rPr>
              <a:t>Transistor Switching: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BC547A transistor receives the voltage signal from the LDR through a voltage divider. When it gets dark, the reduced voltage at the base allows the transistor to conduct.</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u="sng" dirty="0">
                <a:solidFill>
                  <a:srgbClr val="00B0F0"/>
                </a:solidFill>
                <a:latin typeface="Times New Roman" panose="02020603050405020304" pitchFamily="18" charset="0"/>
                <a:cs typeface="Times New Roman" panose="02020603050405020304" pitchFamily="18" charset="0"/>
              </a:rPr>
              <a:t>LED Activation:</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In low light or darkness, the transistor switches </a:t>
            </a:r>
            <a:r>
              <a:rPr lang="en-US" sz="1600" b="1" dirty="0">
                <a:latin typeface="Times New Roman" panose="02020603050405020304" pitchFamily="18" charset="0"/>
                <a:cs typeface="Times New Roman" panose="02020603050405020304" pitchFamily="18" charset="0"/>
              </a:rPr>
              <a:t>ON</a:t>
            </a:r>
            <a:r>
              <a:rPr lang="en-US" sz="1600" dirty="0">
                <a:latin typeface="Times New Roman" panose="02020603050405020304" pitchFamily="18" charset="0"/>
                <a:cs typeface="Times New Roman" panose="02020603050405020304" pitchFamily="18" charset="0"/>
              </a:rPr>
              <a:t>, allowing current to flow through the LED, which </a:t>
            </a:r>
            <a:r>
              <a:rPr lang="en-US" sz="1600" b="1" dirty="0">
                <a:latin typeface="Times New Roman" panose="02020603050405020304" pitchFamily="18" charset="0"/>
                <a:cs typeface="Times New Roman" panose="02020603050405020304" pitchFamily="18" charset="0"/>
              </a:rPr>
              <a:t>lights up</a:t>
            </a:r>
            <a:r>
              <a:rPr lang="en-US" sz="1600" dirty="0">
                <a:latin typeface="Times New Roman" panose="02020603050405020304" pitchFamily="18" charset="0"/>
                <a:cs typeface="Times New Roman" panose="02020603050405020304" pitchFamily="18" charset="0"/>
              </a:rPr>
              <a:t>. In bright light, the transistor remains </a:t>
            </a:r>
            <a:r>
              <a:rPr lang="en-US" sz="1600" b="1" dirty="0">
                <a:latin typeface="Times New Roman" panose="02020603050405020304" pitchFamily="18" charset="0"/>
                <a:cs typeface="Times New Roman" panose="02020603050405020304" pitchFamily="18" charset="0"/>
              </a:rPr>
              <a:t>OFF</a:t>
            </a:r>
            <a:r>
              <a:rPr lang="en-US" sz="1600" dirty="0">
                <a:latin typeface="Times New Roman" panose="02020603050405020304" pitchFamily="18" charset="0"/>
                <a:cs typeface="Times New Roman" panose="02020603050405020304" pitchFamily="18" charset="0"/>
              </a:rPr>
              <a:t>, keeping the LED off.</a:t>
            </a:r>
          </a:p>
          <a:p>
            <a:pPr algn="just">
              <a:buNone/>
            </a:pPr>
            <a:endParaRPr lang="en-US" sz="1600" dirty="0">
              <a:latin typeface="Times New Roman" panose="02020603050405020304" pitchFamily="18" charset="0"/>
              <a:cs typeface="Times New Roman" panose="02020603050405020304" pitchFamily="18" charset="0"/>
            </a:endParaRPr>
          </a:p>
          <a:p>
            <a:pPr algn="just"/>
            <a:r>
              <a:rPr lang="en-US" sz="1600" b="1" u="sng" dirty="0">
                <a:solidFill>
                  <a:srgbClr val="00B0F0"/>
                </a:solidFill>
                <a:latin typeface="Times New Roman" panose="02020603050405020304" pitchFamily="18" charset="0"/>
                <a:cs typeface="Times New Roman" panose="02020603050405020304" pitchFamily="18" charset="0"/>
              </a:rPr>
              <a:t>Testing: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circuit was tested in various lighting conditions (daylight, shade, and complete darkness) to verify that the LED activates accurately in the absence of light.</a:t>
            </a:r>
          </a:p>
          <a:p>
            <a:endParaRPr lang="en-US" sz="1600" dirty="0"/>
          </a:p>
        </p:txBody>
      </p:sp>
      <p:pic>
        <p:nvPicPr>
          <p:cNvPr id="10" name="Picture 9" descr="A circuit board with wires connected to it&#10;&#10;AI-generated content may be incorrect.">
            <a:extLst>
              <a:ext uri="{FF2B5EF4-FFF2-40B4-BE49-F238E27FC236}">
                <a16:creationId xmlns:a16="http://schemas.microsoft.com/office/drawing/2014/main" id="{02C04261-11B1-EE49-F9C2-1A4F908ECB32}"/>
              </a:ext>
            </a:extLst>
          </p:cNvPr>
          <p:cNvPicPr>
            <a:picLocks noChangeAspect="1"/>
          </p:cNvPicPr>
          <p:nvPr/>
        </p:nvPicPr>
        <p:blipFill>
          <a:blip r:embed="rId3" cstate="print">
            <a:extLst>
              <a:ext uri="{28A0092B-C50C-407E-A947-70E740481C1C}">
                <a14:useLocalDpi xmlns:a14="http://schemas.microsoft.com/office/drawing/2010/main" val="0"/>
              </a:ext>
            </a:extLst>
          </a:blip>
          <a:srcRect l="2246" t="6156" r="2246" b="24281"/>
          <a:stretch/>
        </p:blipFill>
        <p:spPr>
          <a:xfrm>
            <a:off x="5626122" y="1218171"/>
            <a:ext cx="3206472" cy="1902534"/>
          </a:xfrm>
          <a:prstGeom prst="rect">
            <a:avLst/>
          </a:prstGeom>
        </p:spPr>
      </p:pic>
      <p:pic>
        <p:nvPicPr>
          <p:cNvPr id="11" name="Picture 10">
            <a:extLst>
              <a:ext uri="{FF2B5EF4-FFF2-40B4-BE49-F238E27FC236}">
                <a16:creationId xmlns:a16="http://schemas.microsoft.com/office/drawing/2014/main" id="{11FFB07C-53B2-05E2-B238-A73C0F6AC562}"/>
              </a:ext>
            </a:extLst>
          </p:cNvPr>
          <p:cNvPicPr>
            <a:picLocks noChangeAspect="1"/>
          </p:cNvPicPr>
          <p:nvPr/>
        </p:nvPicPr>
        <p:blipFill>
          <a:blip r:embed="rId4"/>
          <a:srcRect l="3406" t="3792" r="3406" b="25137"/>
          <a:stretch/>
        </p:blipFill>
        <p:spPr>
          <a:xfrm>
            <a:off x="5626122" y="3642700"/>
            <a:ext cx="3206472" cy="1834059"/>
          </a:xfrm>
          <a:prstGeom prst="rect">
            <a:avLst/>
          </a:prstGeom>
        </p:spPr>
      </p:pic>
      <p:sp>
        <p:nvSpPr>
          <p:cNvPr id="12" name="TextBox 11">
            <a:extLst>
              <a:ext uri="{FF2B5EF4-FFF2-40B4-BE49-F238E27FC236}">
                <a16:creationId xmlns:a16="http://schemas.microsoft.com/office/drawing/2014/main" id="{89BB69A9-A381-EE1D-6800-CBBA79278A1A}"/>
              </a:ext>
            </a:extLst>
          </p:cNvPr>
          <p:cNvSpPr txBox="1"/>
          <p:nvPr/>
        </p:nvSpPr>
        <p:spPr>
          <a:xfrm>
            <a:off x="5410899" y="3178344"/>
            <a:ext cx="46558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2: Hardware Demonstration (In Daylight)</a:t>
            </a:r>
          </a:p>
        </p:txBody>
      </p:sp>
      <p:sp>
        <p:nvSpPr>
          <p:cNvPr id="13" name="TextBox 12">
            <a:extLst>
              <a:ext uri="{FF2B5EF4-FFF2-40B4-BE49-F238E27FC236}">
                <a16:creationId xmlns:a16="http://schemas.microsoft.com/office/drawing/2014/main" id="{76E83A51-3CE2-F15B-6E10-8A73C40AC65B}"/>
              </a:ext>
            </a:extLst>
          </p:cNvPr>
          <p:cNvSpPr txBox="1"/>
          <p:nvPr/>
        </p:nvSpPr>
        <p:spPr>
          <a:xfrm>
            <a:off x="5347816" y="5564130"/>
            <a:ext cx="46558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3: Hardware Demonstration (In Darkness)</a:t>
            </a:r>
          </a:p>
        </p:txBody>
      </p:sp>
    </p:spTree>
    <p:extLst>
      <p:ext uri="{BB962C8B-B14F-4D97-AF65-F5344CB8AC3E}">
        <p14:creationId xmlns:p14="http://schemas.microsoft.com/office/powerpoint/2010/main" val="1203989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6</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1"/>
            <a:ext cx="9144000" cy="6290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44285"/>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4. Results</a:t>
            </a:r>
          </a:p>
        </p:txBody>
      </p:sp>
      <p:sp>
        <p:nvSpPr>
          <p:cNvPr id="4" name="TextBox 3">
            <a:extLst>
              <a:ext uri="{FF2B5EF4-FFF2-40B4-BE49-F238E27FC236}">
                <a16:creationId xmlns:a16="http://schemas.microsoft.com/office/drawing/2014/main" id="{634E5947-7D25-C6EF-7DC5-982FF3B73E1A}"/>
              </a:ext>
            </a:extLst>
          </p:cNvPr>
          <p:cNvSpPr txBox="1"/>
          <p:nvPr/>
        </p:nvSpPr>
        <p:spPr>
          <a:xfrm>
            <a:off x="169712" y="943303"/>
            <a:ext cx="5213758" cy="3785652"/>
          </a:xfrm>
          <a:prstGeom prst="rect">
            <a:avLst/>
          </a:prstGeom>
          <a:noFill/>
        </p:spPr>
        <p:txBody>
          <a:bodyPr wrap="square" rtlCol="0">
            <a:spAutoFit/>
          </a:bodyPr>
          <a:lstStyle/>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automatic street light system successfully detected changes in ambient light using the LDR sensor.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streetlight (represented by an LED) turned ON automatically in low-light conditions (e.g., darkness or shadow).</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LED turned OFF automatically in bright light conditions (e.g., sunlight or strong artificial light).</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system responded accurately and promptly to changing light levels without the need for manual control.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Power consumption was reduced, as the light only operated when necessary.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prototype demonstrated reliable and consistent performance during multiple tests under different lighting environments.</a:t>
            </a:r>
          </a:p>
        </p:txBody>
      </p:sp>
      <p:pic>
        <p:nvPicPr>
          <p:cNvPr id="6" name="Picture 5">
            <a:extLst>
              <a:ext uri="{FF2B5EF4-FFF2-40B4-BE49-F238E27FC236}">
                <a16:creationId xmlns:a16="http://schemas.microsoft.com/office/drawing/2014/main" id="{31BC35B8-4DFE-10AA-86C6-6562FA9C1070}"/>
              </a:ext>
            </a:extLst>
          </p:cNvPr>
          <p:cNvPicPr>
            <a:picLocks noChangeAspect="1"/>
          </p:cNvPicPr>
          <p:nvPr/>
        </p:nvPicPr>
        <p:blipFill>
          <a:blip r:embed="rId3"/>
          <a:srcRect l="3207" t="3380" r="15077" b="7152"/>
          <a:stretch/>
        </p:blipFill>
        <p:spPr>
          <a:xfrm>
            <a:off x="5498074" y="3622855"/>
            <a:ext cx="3476214" cy="2149362"/>
          </a:xfrm>
          <a:prstGeom prst="rect">
            <a:avLst/>
          </a:prstGeom>
        </p:spPr>
      </p:pic>
      <p:pic>
        <p:nvPicPr>
          <p:cNvPr id="7" name="Picture 6">
            <a:extLst>
              <a:ext uri="{FF2B5EF4-FFF2-40B4-BE49-F238E27FC236}">
                <a16:creationId xmlns:a16="http://schemas.microsoft.com/office/drawing/2014/main" id="{2B3178A2-EF8E-B13C-4806-9A2101AA9558}"/>
              </a:ext>
            </a:extLst>
          </p:cNvPr>
          <p:cNvPicPr>
            <a:picLocks noChangeAspect="1"/>
          </p:cNvPicPr>
          <p:nvPr/>
        </p:nvPicPr>
        <p:blipFill>
          <a:blip r:embed="rId4"/>
          <a:srcRect l="1745" t="3559" r="15554" b="10084"/>
          <a:stretch/>
        </p:blipFill>
        <p:spPr>
          <a:xfrm>
            <a:off x="5498074" y="760709"/>
            <a:ext cx="3476214" cy="2516381"/>
          </a:xfrm>
          <a:prstGeom prst="rect">
            <a:avLst/>
          </a:prstGeom>
        </p:spPr>
      </p:pic>
      <p:sp>
        <p:nvSpPr>
          <p:cNvPr id="8" name="TextBox 7">
            <a:extLst>
              <a:ext uri="{FF2B5EF4-FFF2-40B4-BE49-F238E27FC236}">
                <a16:creationId xmlns:a16="http://schemas.microsoft.com/office/drawing/2014/main" id="{13D512A4-4D53-46CA-05FD-257E572A58EB}"/>
              </a:ext>
            </a:extLst>
          </p:cNvPr>
          <p:cNvSpPr txBox="1"/>
          <p:nvPr/>
        </p:nvSpPr>
        <p:spPr>
          <a:xfrm>
            <a:off x="6096000" y="3311793"/>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4: Simulated Diagram</a:t>
            </a:r>
          </a:p>
        </p:txBody>
      </p:sp>
      <p:sp>
        <p:nvSpPr>
          <p:cNvPr id="9" name="TextBox 8">
            <a:extLst>
              <a:ext uri="{FF2B5EF4-FFF2-40B4-BE49-F238E27FC236}">
                <a16:creationId xmlns:a16="http://schemas.microsoft.com/office/drawing/2014/main" id="{095E6A81-CC3A-3FA9-1607-4D2FE6AE98CE}"/>
              </a:ext>
            </a:extLst>
          </p:cNvPr>
          <p:cNvSpPr txBox="1"/>
          <p:nvPr/>
        </p:nvSpPr>
        <p:spPr>
          <a:xfrm>
            <a:off x="6096000" y="5772217"/>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5: Simulated Diagram</a:t>
            </a:r>
          </a:p>
        </p:txBody>
      </p:sp>
    </p:spTree>
    <p:extLst>
      <p:ext uri="{BB962C8B-B14F-4D97-AF65-F5344CB8AC3E}">
        <p14:creationId xmlns:p14="http://schemas.microsoft.com/office/powerpoint/2010/main" val="895054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7</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5. Discussion</a:t>
            </a:r>
          </a:p>
        </p:txBody>
      </p:sp>
      <p:sp>
        <p:nvSpPr>
          <p:cNvPr id="4" name="TextBox 3">
            <a:extLst>
              <a:ext uri="{FF2B5EF4-FFF2-40B4-BE49-F238E27FC236}">
                <a16:creationId xmlns:a16="http://schemas.microsoft.com/office/drawing/2014/main" id="{ED9237C3-E8AC-97A8-FD56-6243A71F04D3}"/>
              </a:ext>
            </a:extLst>
          </p:cNvPr>
          <p:cNvSpPr txBox="1"/>
          <p:nvPr/>
        </p:nvSpPr>
        <p:spPr>
          <a:xfrm>
            <a:off x="335560" y="1635852"/>
            <a:ext cx="8615493" cy="255454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Automatic Street Light System worked effectively by turning the LED on in low light and off in bright conditions. The LDR senses ambient light, and its resistance changes accordingly. In darkness, the increased resistance causes the transistor (BC547P) to switch ON, allowing current to light the LED. In bright light, the transistor stays OFF, and the LED remains off. Testing under various conditions confirmed reliable and accurate switching. The circuit is simple, cost-effective, and suitable for real-life applications like automatic night lights and solar garden lighting.</a:t>
            </a:r>
          </a:p>
        </p:txBody>
      </p:sp>
    </p:spTree>
    <p:extLst>
      <p:ext uri="{BB962C8B-B14F-4D97-AF65-F5344CB8AC3E}">
        <p14:creationId xmlns:p14="http://schemas.microsoft.com/office/powerpoint/2010/main" val="195296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8</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6. Conclusion</a:t>
            </a:r>
          </a:p>
        </p:txBody>
      </p:sp>
      <p:sp>
        <p:nvSpPr>
          <p:cNvPr id="4" name="TextBox 3">
            <a:extLst>
              <a:ext uri="{FF2B5EF4-FFF2-40B4-BE49-F238E27FC236}">
                <a16:creationId xmlns:a16="http://schemas.microsoft.com/office/drawing/2014/main" id="{8210D642-3B9D-036E-F9D8-5C0A7BC98051}"/>
              </a:ext>
            </a:extLst>
          </p:cNvPr>
          <p:cNvSpPr txBox="1"/>
          <p:nvPr/>
        </p:nvSpPr>
        <p:spPr>
          <a:xfrm>
            <a:off x="255864" y="1350627"/>
            <a:ext cx="8632271" cy="3785652"/>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Automatic Street Light System was successfully designed and implemented using an LDR and a BC547 transistor. The system effectively responded to changes in ambient light, turning the light ON in darkness and OFF in daylight without any manual intervention. This project demonstrates a simple, low-cost, and energy-efficient solution for automating street lighting.</a:t>
            </a:r>
          </a:p>
          <a:p>
            <a:pPr marL="342900" indent="-342900" algn="just">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By reducing unnecessary power consumption and human effort, this system contributes to energy conservation and can be scaled for real-world applications. The project also highlights how basic electronic components can be used to build functional and practical automation systems. Future improvements can include features like motion sensors, timers, or solar power for enhanced efficiency and Sustainability</a:t>
            </a:r>
          </a:p>
        </p:txBody>
      </p:sp>
    </p:spTree>
    <p:extLst>
      <p:ext uri="{BB962C8B-B14F-4D97-AF65-F5344CB8AC3E}">
        <p14:creationId xmlns:p14="http://schemas.microsoft.com/office/powerpoint/2010/main" val="3150944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9</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7. References</a:t>
            </a:r>
          </a:p>
        </p:txBody>
      </p:sp>
      <p:sp>
        <p:nvSpPr>
          <p:cNvPr id="6" name="Rectangle 1">
            <a:extLst>
              <a:ext uri="{FF2B5EF4-FFF2-40B4-BE49-F238E27FC236}">
                <a16:creationId xmlns:a16="http://schemas.microsoft.com/office/drawing/2014/main" id="{CB31C151-FA26-9F53-C56E-25B0926AAA24}"/>
              </a:ext>
            </a:extLst>
          </p:cNvPr>
          <p:cNvSpPr>
            <a:spLocks noChangeArrowheads="1"/>
          </p:cNvSpPr>
          <p:nvPr/>
        </p:nvSpPr>
        <p:spPr bwMode="auto">
          <a:xfrm rot="10800000" flipV="1">
            <a:off x="375405" y="877915"/>
            <a:ext cx="7265615" cy="4864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nSpc>
                <a:spcPct val="107000"/>
              </a:lnSpc>
              <a:spcBef>
                <a:spcPts val="0"/>
              </a:spcBef>
              <a:spcAft>
                <a:spcPts val="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Boylestad</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R. L., &amp; </a:t>
            </a: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Nashelsky</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L. (2009).</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Electronic Devices and Circuit Theory</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(11th ed.). Pearson Education.</a:t>
            </a:r>
            <a:endParaRPr lang="en-US" sz="2000" kern="100" dirty="0">
              <a:effectLst/>
              <a:latin typeface="Aptos"/>
              <a:ea typeface="Aptos"/>
              <a:cs typeface="Vrinda" panose="020B0502040204020203" pitchFamily="34" charset="0"/>
            </a:endParaRPr>
          </a:p>
          <a:p>
            <a:pPr marR="0" lvl="0">
              <a:lnSpc>
                <a:spcPct val="107000"/>
              </a:lnSpc>
              <a:spcBef>
                <a:spcPts val="0"/>
              </a:spcBef>
              <a:spcAft>
                <a:spcPts val="800"/>
              </a:spcAft>
            </a:pP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Chapter 3: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Diodes and Applications</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Electrical Technology. (2013, April).</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Control Circuit using LDR &amp; Transistor.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2" tooltip="Automatic Street Light Control Circuit using LDR &amp; Transistor"/>
              </a:rPr>
              <a:t>Electrical Technology</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Easy Electronics Project. (2020, April 15).</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with LDR.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3" tooltip="Automatic street light using LDR &amp; BC547 - Electronics Projects"/>
              </a:rPr>
              <a:t>Electronics Projects</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ElectronicWings</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(2020, September 29).</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Controller.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err="1">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4" tooltip="Automatic Street Light Controller | project"/>
              </a:rPr>
              <a:t>ElectronicWings</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TRONICSpro</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(n.d.).</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How to Make Automatic Street Light Controller.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err="1">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5" tooltip="How to Make Automatic Street Light Controller - TRONICSpro"/>
              </a:rPr>
              <a:t>TRONICSpro</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6186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B60151-275B-234C-B96C-372251543F9B}"/>
              </a:ext>
            </a:extLst>
          </p:cNvPr>
          <p:cNvSpPr>
            <a:spLocks noGrp="1"/>
          </p:cNvSpPr>
          <p:nvPr>
            <p:ph type="sldNum" sz="quarter" idx="12"/>
          </p:nvPr>
        </p:nvSpPr>
        <p:spPr/>
        <p:txBody>
          <a:bodyPr/>
          <a:lstStyle/>
          <a:p>
            <a:pPr>
              <a:defRPr/>
            </a:pPr>
            <a:fld id="{47F6B988-E08C-4CCC-98F2-2921209802BF}" type="slidenum">
              <a:rPr lang="ja-JP" altLang="en-US" sz="1800" smtClean="0">
                <a:solidFill>
                  <a:schemeClr val="tx1"/>
                </a:solidFill>
                <a:latin typeface="Times New Roman" panose="02020603050405020304" pitchFamily="18" charset="0"/>
                <a:cs typeface="Times New Roman" panose="02020603050405020304" pitchFamily="18" charset="0"/>
              </a:rPr>
              <a:pPr>
                <a:defRPr/>
              </a:pPr>
              <a:t>10</a:t>
            </a:fld>
            <a:endParaRPr lang="ja-JP" altLang="en-US" sz="1800" dirty="0">
              <a:solidFill>
                <a:schemeClr val="tx1"/>
              </a:solidFill>
              <a:latin typeface="Times New Roman" panose="02020603050405020304" pitchFamily="18" charset="0"/>
              <a:cs typeface="Times New Roman" panose="02020603050405020304" pitchFamily="18" charset="0"/>
            </a:endParaRPr>
          </a:p>
        </p:txBody>
      </p:sp>
      <p:pic>
        <p:nvPicPr>
          <p:cNvPr id="1030" name="Picture 6" descr="Architecture | AIUB">
            <a:extLst>
              <a:ext uri="{FF2B5EF4-FFF2-40B4-BE49-F238E27FC236}">
                <a16:creationId xmlns:a16="http://schemas.microsoft.com/office/drawing/2014/main" id="{9C4F54D5-F909-CADF-466E-565344A0F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42481"/>
            <a:ext cx="9144000" cy="52089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BEA8F9D-28B9-547A-0356-19E4D60BFEE6}"/>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4"/>
          <p:cNvSpPr>
            <a:spLocks noChangeArrowheads="1"/>
          </p:cNvSpPr>
          <p:nvPr/>
        </p:nvSpPr>
        <p:spPr bwMode="auto">
          <a:xfrm>
            <a:off x="1464068" y="-24476"/>
            <a:ext cx="6215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spcBef>
                <a:spcPts val="1200"/>
              </a:spcBef>
              <a:buFontTx/>
              <a:buNone/>
            </a:pPr>
            <a:r>
              <a:rPr lang="en-US" altLang="ja-JP" sz="4800" b="1" dirty="0">
                <a:solidFill>
                  <a:srgbClr val="C00000"/>
                </a:solidFill>
                <a:latin typeface="Times New Roman" panose="02020603050405020304" pitchFamily="18" charset="0"/>
                <a:cs typeface="Times New Roman" panose="02020603050405020304" pitchFamily="18" charset="0"/>
              </a:rPr>
              <a:t>Thanks for listening</a:t>
            </a:r>
          </a:p>
        </p:txBody>
      </p:sp>
    </p:spTree>
    <p:extLst>
      <p:ext uri="{BB962C8B-B14F-4D97-AF65-F5344CB8AC3E}">
        <p14:creationId xmlns:p14="http://schemas.microsoft.com/office/powerpoint/2010/main" val="4115622563"/>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2.xml><?xml version="1.0" encoding="utf-8"?>
<a:theme xmlns:a="http://schemas.openxmlformats.org/drawingml/2006/main" name="1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3.xml><?xml version="1.0" encoding="utf-8"?>
<a:theme xmlns:a="http://schemas.openxmlformats.org/drawingml/2006/main" name="2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4.xml><?xml version="1.0" encoding="utf-8"?>
<a:theme xmlns:a="http://schemas.openxmlformats.org/drawingml/2006/main" name="3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5.xml><?xml version="1.0" encoding="utf-8"?>
<a:theme xmlns:a="http://schemas.openxmlformats.org/drawingml/2006/main" name="4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3E5BDC5C551145B693F0E5668ABB8D" ma:contentTypeVersion="3" ma:contentTypeDescription="Create a new document." ma:contentTypeScope="" ma:versionID="264a204121950b4e2a600f3c5248fd72">
  <xsd:schema xmlns:xsd="http://www.w3.org/2001/XMLSchema" xmlns:xs="http://www.w3.org/2001/XMLSchema" xmlns:p="http://schemas.microsoft.com/office/2006/metadata/properties" xmlns:ns2="8323ff4e-5af7-4051-9371-eadce3aee04b" targetNamespace="http://schemas.microsoft.com/office/2006/metadata/properties" ma:root="true" ma:fieldsID="9fa8bcd29ede334e0e5723b4a87a0299" ns2:_="">
    <xsd:import namespace="8323ff4e-5af7-4051-9371-eadce3aee0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23ff4e-5af7-4051-9371-eadce3aee0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EECAEC-49D9-4279-B6F3-FB3E24A6A0A5}">
  <ds:schemaRefs>
    <ds:schemaRef ds:uri="http://schemas.microsoft.com/sharepoint/v3/contenttype/forms"/>
  </ds:schemaRefs>
</ds:datastoreItem>
</file>

<file path=customXml/itemProps2.xml><?xml version="1.0" encoding="utf-8"?>
<ds:datastoreItem xmlns:ds="http://schemas.openxmlformats.org/officeDocument/2006/customXml" ds:itemID="{747C26E1-F229-47AA-96B7-8AD5392F4E6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3B4172E-C0EB-4D4F-9FF2-BDE2A8A195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23ff4e-5af7-4051-9371-eadce3aee0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1648</TotalTime>
  <Words>983</Words>
  <Application>Microsoft Office PowerPoint</Application>
  <PresentationFormat>On-screen Show (4:3)</PresentationFormat>
  <Paragraphs>99</Paragraphs>
  <Slides>10</Slides>
  <Notes>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10</vt:i4>
      </vt:variant>
    </vt:vector>
  </HeadingPairs>
  <TitlesOfParts>
    <vt:vector size="23" baseType="lpstr">
      <vt:lpstr>-apple-system</vt:lpstr>
      <vt:lpstr>Aptos</vt:lpstr>
      <vt:lpstr>Arial</vt:lpstr>
      <vt:lpstr>Calibri</vt:lpstr>
      <vt:lpstr>Cambria</vt:lpstr>
      <vt:lpstr>Franklin Gothic Book</vt:lpstr>
      <vt:lpstr>Times New Roman</vt:lpstr>
      <vt:lpstr>Wingdings</vt:lpstr>
      <vt:lpstr>Theme1</vt:lpstr>
      <vt:lpstr>1_Theme1</vt:lpstr>
      <vt:lpstr>2_Theme1</vt:lpstr>
      <vt:lpstr>3_Theme1</vt:lpstr>
      <vt:lpstr>4_Theme1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CLIPPERS</dc:title>
  <dc:creator>Md. Mamunur Rashid</dc:creator>
  <cp:lastModifiedBy>ASMA</cp:lastModifiedBy>
  <cp:revision>218</cp:revision>
  <dcterms:created xsi:type="dcterms:W3CDTF">2016-06-11T11:25:17Z</dcterms:created>
  <dcterms:modified xsi:type="dcterms:W3CDTF">2025-06-01T09:23:25Z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0x010100A03E5BDC5C551145B693F0E5668ABB8D</vt:lpwstr>
  </property>
</Properties>
</file>